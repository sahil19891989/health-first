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Hook: Kids skip daily health habits because nothing holds them accountable. And it's not just a kid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problem generalizes beyond kids - this is the finding that shaped the whole reward design in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flow left to right. Mention the sleep timing fix as a specific bug we caught and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direct Week 5 response to the Week 4 finding - encouraging, not punitive.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the emergency unlock never falsifies progress - it's an honest override, not a cheat.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slide brief in the pitch - judges care more about the product than the stack.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throughline of the whole pitch: real feedback led directly to a real design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these out loud slowly if this is on screen during the recorded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tagline - it's the one line judges should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378440" y="411479"/>
            <a:ext cx="1005840" cy="1005840"/>
          </a:xfrm>
          <a:prstGeom prst="ellipse">
            <a:avLst/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>
                <a:solidFill>
                  <a:srgbClr val="FFFFFF"/>
                </a:solidFill>
              </a:rPr>
              <a:t>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10332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 i="0">
                <a:solidFill>
                  <a:srgbClr val="FFFFFF"/>
                </a:solidFill>
                <a:latin typeface="Cambria"/>
              </a:rPr>
              <a:t>Health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1">
                <a:solidFill>
                  <a:srgbClr val="DCE8D9"/>
                </a:solidFill>
                <a:latin typeface="Calibri"/>
              </a:rPr>
              <a:t>Turning daily health habits into the price of screen 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297680"/>
            <a:ext cx="3840480" cy="384048"/>
          </a:xfrm>
          <a:prstGeom prst="roundRect">
            <a:avLst>
              <a:gd name="adj" fmla="val 50000"/>
            </a:avLst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QUTUHAL INNOVATEX 2.0  ·  WEEK 6 PITCH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2D22"/>
                </a:solidFill>
                <a:latin typeface="Cambria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51206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B6A5F"/>
                </a:solidFill>
                <a:latin typeface="Calibri"/>
              </a:rPr>
              <a:t>Kids skip daily health habits — drinking water, exercising, sleeping on time, eating fruit — because they get distracted by games and apps, and no one checks whether the goal was really done.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B6A5F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B6A5F"/>
                </a:solidFill>
                <a:latin typeface="Calibri"/>
              </a:rPr>
              <a:t>Skipped repeatedly through childhood, these small habits shape lifelong self-care.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34440"/>
            <a:ext cx="4937760" cy="3383280"/>
          </a:xfrm>
          <a:prstGeom prst="roundRect">
            <a:avLst>
              <a:gd name="adj" fmla="val 12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66560" y="1508760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E7A5C"/>
                </a:solidFill>
                <a:latin typeface="Calibri"/>
              </a:rPr>
              <a:t>WEEK 4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965960"/>
            <a:ext cx="4206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1">
                <a:solidFill>
                  <a:srgbClr val="2C5A44"/>
                </a:solidFill>
                <a:latin typeface="Cambria"/>
              </a:rPr>
              <a:t>“Asked family members whether they also forget daily health goals — they confirmed it happens to them too.”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3794760"/>
            <a:ext cx="4206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E7A5C"/>
                </a:solidFill>
                <a:latin typeface="Calibri"/>
              </a:rPr>
              <a:t>This isn't a kid problem — it's a habit-formation problem across ages.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2D22"/>
                </a:solidFill>
                <a:latin typeface="Cambria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5B6A5F"/>
                </a:solidFill>
                <a:latin typeface="Calibri"/>
              </a:rPr>
              <a:t>A daily checklist of health goals — proven honestly — banks screen-time minutes.</a:t>
            </a:r>
          </a:p>
        </p:txBody>
      </p:sp>
      <p:sp>
        <p:nvSpPr>
          <p:cNvPr id="4" name="Oval 3"/>
          <p:cNvSpPr/>
          <p:nvPr/>
        </p:nvSpPr>
        <p:spPr>
          <a:xfrm>
            <a:off x="1234440" y="2057400"/>
            <a:ext cx="1188720" cy="1188720"/>
          </a:xfrm>
          <a:prstGeom prst="ellipse">
            <a:avLst/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600">
                <a:solidFill>
                  <a:srgbClr val="3E7A5C"/>
                </a:solidFill>
              </a:rPr>
              <a:t>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337560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F2D22"/>
                </a:solidFill>
                <a:latin typeface="Calibri"/>
              </a:rPr>
              <a:t>Water</a:t>
            </a:r>
          </a:p>
        </p:txBody>
      </p:sp>
      <p:sp>
        <p:nvSpPr>
          <p:cNvPr id="6" name="Oval 5"/>
          <p:cNvSpPr/>
          <p:nvPr/>
        </p:nvSpPr>
        <p:spPr>
          <a:xfrm>
            <a:off x="3566160" y="2057400"/>
            <a:ext cx="1188720" cy="1188720"/>
          </a:xfrm>
          <a:prstGeom prst="ellipse">
            <a:avLst/>
          </a:prstGeom>
          <a:solidFill>
            <a:srgbClr val="F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600">
                <a:solidFill>
                  <a:srgbClr val="DD6B42"/>
                </a:solidFill>
              </a:rPr>
              <a:t>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3337560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F2D22"/>
                </a:solidFill>
                <a:latin typeface="Calibri"/>
              </a:rPr>
              <a:t>Move</a:t>
            </a:r>
          </a:p>
        </p:txBody>
      </p:sp>
      <p:sp>
        <p:nvSpPr>
          <p:cNvPr id="8" name="Oval 7"/>
          <p:cNvSpPr/>
          <p:nvPr/>
        </p:nvSpPr>
        <p:spPr>
          <a:xfrm>
            <a:off x="5897879" y="2057400"/>
            <a:ext cx="1188720" cy="1188720"/>
          </a:xfrm>
          <a:prstGeom prst="ellipse">
            <a:avLst/>
          </a:prstGeom>
          <a:solidFill>
            <a:srgbClr val="E2E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600">
                <a:solidFill>
                  <a:srgbClr val="6E6FBF"/>
                </a:solidFill>
              </a:rPr>
              <a:t>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79" y="3337560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F2D22"/>
                </a:solidFill>
                <a:latin typeface="Calibri"/>
              </a:rPr>
              <a:t>Sleep</a:t>
            </a:r>
          </a:p>
        </p:txBody>
      </p:sp>
      <p:sp>
        <p:nvSpPr>
          <p:cNvPr id="10" name="Oval 9"/>
          <p:cNvSpPr/>
          <p:nvPr/>
        </p:nvSpPr>
        <p:spPr>
          <a:xfrm>
            <a:off x="8229600" y="2057400"/>
            <a:ext cx="1188720" cy="1188720"/>
          </a:xfrm>
          <a:prstGeom prst="ellipse">
            <a:avLst/>
          </a:prstGeom>
          <a:solidFill>
            <a:srgbClr val="F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600">
                <a:solidFill>
                  <a:srgbClr val="DD6B42"/>
                </a:solidFill>
              </a:rPr>
              <a:t>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3337560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F2D22"/>
                </a:solidFill>
                <a:latin typeface="Calibri"/>
              </a:rPr>
              <a:t>Fruit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251960"/>
            <a:ext cx="1554480" cy="594360"/>
          </a:xfrm>
          <a:prstGeom prst="roundRect">
            <a:avLst>
              <a:gd name="adj" fmla="val 12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251960"/>
            <a:ext cx="15544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C5A44"/>
                </a:solidFill>
                <a:latin typeface="Calibri"/>
              </a:rPr>
              <a:t>Checklist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434340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DD6B42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6080" y="4251960"/>
            <a:ext cx="2286000" cy="594360"/>
          </a:xfrm>
          <a:prstGeom prst="roundRect">
            <a:avLst>
              <a:gd name="adj" fmla="val 12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6080" y="4251960"/>
            <a:ext cx="22860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C5A44"/>
                </a:solidFill>
                <a:latin typeface="Calibri"/>
              </a:rPr>
              <a:t>Photo or PIN Proof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434340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DD6B42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4251960"/>
            <a:ext cx="2103120" cy="594360"/>
          </a:xfrm>
          <a:prstGeom prst="roundRect">
            <a:avLst>
              <a:gd name="adj" fmla="val 12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4251960"/>
            <a:ext cx="21031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C5A44"/>
                </a:solidFill>
                <a:latin typeface="Calibri"/>
              </a:rPr>
              <a:t>Minutes Banked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34340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DD6B42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4251960"/>
            <a:ext cx="1554480" cy="594360"/>
          </a:xfrm>
          <a:prstGeom prst="roundRect">
            <a:avLst>
              <a:gd name="adj" fmla="val 12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4251960"/>
            <a:ext cx="15544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C5A44"/>
                </a:solidFill>
                <a:latin typeface="Calibri"/>
              </a:rPr>
              <a:t>Unlock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21208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B6A5F"/>
                </a:solidFill>
                <a:latin typeface="Calibri"/>
              </a:rPr>
              <a:t>Sleep is the one exception: it's checked each morning about last night's bedtime, not at night — so the reward window is never gated on something unverifiable until after bedtime.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2D22"/>
                </a:solidFill>
                <a:latin typeface="Cambria"/>
              </a:rPr>
              <a:t>An Encouraging Reward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A5F"/>
                </a:solidFill>
                <a:latin typeface="Calibri"/>
              </a:rPr>
              <a:t>Per-goal minute banking replaced an all-or-nothing lock.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5120640" cy="4206240"/>
          </a:xfrm>
          <a:prstGeom prst="roundRect">
            <a:avLst>
              <a:gd name="adj" fmla="val 12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488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E7A5C"/>
                </a:solidFill>
                <a:latin typeface="Calibri"/>
              </a:rPr>
              <a:t>EVERY GOAL BANKS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51760"/>
            <a:ext cx="44805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3E7A5C"/>
              </a:buClr>
              <a:buFont typeface="Arial"/>
              <a:buChar char="•"/>
            </a:pPr>
            <a:r>
              <a:rPr b="1" sz="1400">
                <a:solidFill>
                  <a:srgbClr val="3E7A5C"/>
                </a:solidFill>
                <a:latin typeface="Calibri"/>
              </a:rPr>
              <a:t>Immediate reward — </a:t>
            </a:r>
            <a:r>
              <a:rPr sz="1400">
                <a:solidFill>
                  <a:srgbClr val="1F2D22"/>
                </a:solidFill>
                <a:latin typeface="Calibri"/>
              </a:rPr>
              <a:t>each completed goal banks parent-set minutes right away, not at day's end.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3E7A5C"/>
              </a:buClr>
              <a:buFont typeface="Arial"/>
              <a:buChar char="•"/>
            </a:pPr>
            <a:r>
              <a:rPr b="1" sz="1400">
                <a:solidFill>
                  <a:srgbClr val="3E7A5C"/>
                </a:solidFill>
                <a:latin typeface="Calibri"/>
              </a:rPr>
              <a:t>Fair to partial effort — </a:t>
            </a:r>
            <a:r>
              <a:rPr sz="1400">
                <a:solidFill>
                  <a:srgbClr val="1F2D22"/>
                </a:solidFill>
                <a:latin typeface="Calibri"/>
              </a:rPr>
              <a:t>missing one goal no longer erases the whole day's reward.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3E7A5C"/>
              </a:buClr>
              <a:buFont typeface="Arial"/>
              <a:buChar char="•"/>
            </a:pPr>
            <a:r>
              <a:rPr b="1" sz="1400">
                <a:solidFill>
                  <a:srgbClr val="3E7A5C"/>
                </a:solidFill>
                <a:latin typeface="Calibri"/>
              </a:rPr>
              <a:t>Still a big finish — </a:t>
            </a:r>
            <a:r>
              <a:rPr sz="1400">
                <a:solidFill>
                  <a:srgbClr val="1F2D22"/>
                </a:solidFill>
                <a:latin typeface="Calibri"/>
              </a:rPr>
              <a:t>complete every goal and the day becomes Unlimited.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3E7A5C"/>
              </a:buClr>
              <a:buFont typeface="Arial"/>
              <a:buChar char="•"/>
            </a:pPr>
            <a:r>
              <a:rPr b="1" sz="1400">
                <a:solidFill>
                  <a:srgbClr val="3E7A5C"/>
                </a:solidFill>
                <a:latin typeface="Calibri"/>
              </a:rPr>
              <a:t>Parent-configurable — </a:t>
            </a:r>
            <a:r>
              <a:rPr sz="1400">
                <a:solidFill>
                  <a:srgbClr val="1F2D22"/>
                </a:solidFill>
                <a:latin typeface="Calibri"/>
              </a:rPr>
              <a:t>each goal's reward minutes are editable per family.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874519"/>
            <a:ext cx="5120640" cy="4206240"/>
          </a:xfrm>
          <a:prstGeom prst="roundRect">
            <a:avLst>
              <a:gd name="adj" fmla="val 12000"/>
            </a:avLst>
          </a:prstGeom>
          <a:solidFill>
            <a:srgbClr val="F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21488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D6B42"/>
                </a:solidFill>
                <a:latin typeface="Calibri"/>
              </a:rPr>
              <a:t>SPENDING THE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651760"/>
            <a:ext cx="44805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3E7A5C"/>
              </a:buClr>
              <a:buFont typeface="Arial"/>
              <a:buChar char="•"/>
            </a:pPr>
            <a:r>
              <a:rPr b="1" sz="1400">
                <a:solidFill>
                  <a:srgbClr val="3E7A5C"/>
                </a:solidFill>
                <a:latin typeface="Calibri"/>
              </a:rPr>
              <a:t>Live countdown — </a:t>
            </a:r>
            <a:r>
              <a:rPr sz="1400">
                <a:solidFill>
                  <a:srgbClr val="1F2D22"/>
                </a:solidFill>
                <a:latin typeface="Calibri"/>
              </a:rPr>
              <a:t>tapping Games/YouTube starts a real timer against the banked balance.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3E7A5C"/>
              </a:buClr>
              <a:buFont typeface="Arial"/>
              <a:buChar char="•"/>
            </a:pPr>
            <a:r>
              <a:rPr b="1" sz="1400">
                <a:solidFill>
                  <a:srgbClr val="3E7A5C"/>
                </a:solidFill>
                <a:latin typeface="Calibri"/>
              </a:rPr>
              <a:t>Low-time warning — </a:t>
            </a:r>
            <a:r>
              <a:rPr sz="1400">
                <a:solidFill>
                  <a:srgbClr val="1F2D22"/>
                </a:solidFill>
                <a:latin typeface="Calibri"/>
              </a:rPr>
              <a:t>the clock turns red and warns before time runs out.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3E7A5C"/>
              </a:buClr>
              <a:buFont typeface="Arial"/>
              <a:buChar char="•"/>
            </a:pPr>
            <a:r>
              <a:rPr b="1" sz="1400">
                <a:solidFill>
                  <a:srgbClr val="3E7A5C"/>
                </a:solidFill>
                <a:latin typeface="Calibri"/>
              </a:rPr>
              <a:t>Nothing wasted — </a:t>
            </a:r>
            <a:r>
              <a:rPr sz="1400">
                <a:solidFill>
                  <a:srgbClr val="1F2D22"/>
                </a:solidFill>
                <a:latin typeface="Calibri"/>
              </a:rPr>
              <a:t>stopping early banks back the unused minutes.</a:t>
            </a:r>
          </a:p>
          <a:p>
            <a:pPr indent="-201168" marL="201168">
              <a:lnSpc>
                <a:spcPct val="115000"/>
              </a:lnSpc>
              <a:spcAft>
                <a:spcPts val="1000"/>
              </a:spcAft>
              <a:buClr>
                <a:srgbClr val="3E7A5C"/>
              </a:buClr>
              <a:buFont typeface="Arial"/>
              <a:buChar char="•"/>
            </a:pPr>
            <a:r>
              <a:rPr b="1" sz="1400">
                <a:solidFill>
                  <a:srgbClr val="3E7A5C"/>
                </a:solidFill>
                <a:latin typeface="Calibri"/>
              </a:rPr>
              <a:t>Unlimited mode — </a:t>
            </a:r>
            <a:r>
              <a:rPr sz="1400">
                <a:solidFill>
                  <a:srgbClr val="1F2D22"/>
                </a:solidFill>
                <a:latin typeface="Calibri"/>
              </a:rPr>
              <a:t>finishing all goals removes the timer entirely for the day.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2D22"/>
                </a:solidFill>
                <a:latin typeface="Cambria"/>
              </a:rPr>
              <a:t>Built for Parents Too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5B6A5F"/>
                </a:solidFill>
                <a:latin typeface="Calibri"/>
              </a:rPr>
              <a:t>A dashboard that reviews, configures, and — when it matters — overrides.</a:t>
            </a:r>
          </a:p>
        </p:txBody>
      </p:sp>
      <p:sp>
        <p:nvSpPr>
          <p:cNvPr id="4" name="Oval 3"/>
          <p:cNvSpPr/>
          <p:nvPr/>
        </p:nvSpPr>
        <p:spPr>
          <a:xfrm>
            <a:off x="960120" y="1920240"/>
            <a:ext cx="914400" cy="914400"/>
          </a:xfrm>
          <a:prstGeom prst="ellipse">
            <a:avLst/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800">
                <a:solidFill>
                  <a:srgbClr val="3E7A5C"/>
                </a:solidFill>
              </a:rPr>
              <a:t>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196596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F2D22"/>
                </a:solidFill>
                <a:latin typeface="Cambria"/>
              </a:rPr>
              <a:t>Review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423160"/>
            <a:ext cx="8778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5B6A5F"/>
                </a:solidFill>
                <a:latin typeface="Calibri"/>
              </a:rPr>
              <a:t>Approve or ask-again on any photo a kid submits — nothing is auto-approved.</a:t>
            </a:r>
          </a:p>
        </p:txBody>
      </p:sp>
      <p:sp>
        <p:nvSpPr>
          <p:cNvPr id="7" name="Oval 6"/>
          <p:cNvSpPr/>
          <p:nvPr/>
        </p:nvSpPr>
        <p:spPr>
          <a:xfrm>
            <a:off x="960120" y="3337560"/>
            <a:ext cx="914400" cy="914400"/>
          </a:xfrm>
          <a:prstGeom prst="ellipse">
            <a:avLst/>
          </a:prstGeom>
          <a:solidFill>
            <a:srgbClr val="F7E1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800">
                <a:solidFill>
                  <a:srgbClr val="DD6B42"/>
                </a:solidFill>
              </a:rPr>
              <a:t>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338328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F2D22"/>
                </a:solidFill>
                <a:latin typeface="Cambria"/>
              </a:rPr>
              <a:t>Emergency Unlock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840480"/>
            <a:ext cx="8778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5B6A5F"/>
                </a:solidFill>
                <a:latin typeface="Calibri"/>
              </a:rPr>
              <a:t>A PIN-gated override for genuine emergencies — bypasses goals without touching progress or balances.</a:t>
            </a:r>
          </a:p>
        </p:txBody>
      </p:sp>
      <p:sp>
        <p:nvSpPr>
          <p:cNvPr id="10" name="Oval 9"/>
          <p:cNvSpPr/>
          <p:nvPr/>
        </p:nvSpPr>
        <p:spPr>
          <a:xfrm>
            <a:off x="960120" y="4754880"/>
            <a:ext cx="914400" cy="914400"/>
          </a:xfrm>
          <a:prstGeom prst="ellipse">
            <a:avLst/>
          </a:prstGeom>
          <a:solidFill>
            <a:srgbClr val="F5E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800">
                <a:solidFill>
                  <a:srgbClr val="DB9D3B"/>
                </a:solidFill>
              </a:rPr>
              <a:t>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480060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F2D22"/>
                </a:solidFill>
                <a:latin typeface="Cambria"/>
              </a:rPr>
              <a:t>Goal Setup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5257800"/>
            <a:ext cx="8778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5B6A5F"/>
                </a:solidFill>
                <a:latin typeface="Calibri"/>
              </a:rPr>
              <a:t>Add or remove goals, and set exactly how many minutes each one is worth.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5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mbria"/>
              </a:rPr>
              <a:t>How It's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DCE8D9"/>
                </a:solidFill>
                <a:latin typeface="Calibri"/>
              </a:rPr>
              <a:t>One self-contained file. No backend. No build step.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03120"/>
            <a:ext cx="3291840" cy="3200400"/>
          </a:xfrm>
          <a:prstGeom prst="roundRect">
            <a:avLst>
              <a:gd name="adj" fmla="val 12000"/>
            </a:avLst>
          </a:prstGeom>
          <a:solidFill>
            <a:srgbClr val="1F3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011680" y="2240280"/>
            <a:ext cx="914400" cy="914400"/>
          </a:xfrm>
          <a:prstGeom prst="ellipse">
            <a:avLst/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800">
                <a:solidFill>
                  <a:srgbClr val="FFFFFF"/>
                </a:solidFill>
              </a:rPr>
              <a:t>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3375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Cambria"/>
              </a:rPr>
              <a:t>Single HTML 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840480"/>
            <a:ext cx="2743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DCE8D9"/>
                </a:solidFill>
                <a:latin typeface="Calibri"/>
              </a:rPr>
              <a:t>All markup, styling, and logic in one file — health_first.html — no bundler, no dependencies.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103120"/>
            <a:ext cx="3291840" cy="3200400"/>
          </a:xfrm>
          <a:prstGeom prst="roundRect">
            <a:avLst>
              <a:gd name="adj" fmla="val 12000"/>
            </a:avLst>
          </a:prstGeom>
          <a:solidFill>
            <a:srgbClr val="1F3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532120" y="2240280"/>
            <a:ext cx="914400" cy="914400"/>
          </a:xfrm>
          <a:prstGeom prst="ellipse">
            <a:avLst/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800">
                <a:solidFill>
                  <a:srgbClr val="FFFFFF"/>
                </a:solidFill>
              </a:rPr>
              <a:t>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33375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Cambria"/>
              </a:rPr>
              <a:t>Browser localStorage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840480"/>
            <a:ext cx="2743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DCE8D9"/>
                </a:solidFill>
                <a:latin typeface="Calibri"/>
              </a:rPr>
              <a:t>Goals, streaks, minute balance, and history persist per day with automatic daily rollover.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2103120"/>
            <a:ext cx="3291840" cy="3200400"/>
          </a:xfrm>
          <a:prstGeom prst="roundRect">
            <a:avLst>
              <a:gd name="adj" fmla="val 12000"/>
            </a:avLst>
          </a:prstGeom>
          <a:solidFill>
            <a:srgbClr val="1F3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52560" y="2240280"/>
            <a:ext cx="914400" cy="914400"/>
          </a:xfrm>
          <a:prstGeom prst="ellipse">
            <a:avLst/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800">
                <a:solidFill>
                  <a:srgbClr val="FFFFFF"/>
                </a:solidFill>
              </a:rPr>
              <a:t>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33756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Cambria"/>
              </a:rPr>
              <a:t>Re-render on 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840480"/>
            <a:ext cx="2743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DCE8D9"/>
                </a:solidFill>
                <a:latin typeface="Calibri"/>
              </a:rPr>
              <a:t>Every action mutates one state object, then redraws the current view — fast to iterate 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1F2D22"/>
                </a:solidFill>
                <a:latin typeface="Cambria"/>
              </a:rPr>
              <a:t>From Finding to Feature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54480"/>
            <a:ext cx="1874519" cy="1005840"/>
          </a:xfrm>
          <a:prstGeom prst="roundRect">
            <a:avLst>
              <a:gd name="adj" fmla="val 12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87451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C5A44"/>
                </a:solidFill>
                <a:latin typeface="Calibri"/>
              </a:rPr>
              <a:t>Week 1</a:t>
            </a:r>
          </a:p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C5A44"/>
                </a:solidFill>
                <a:latin typeface="Calibri"/>
              </a:rPr>
              <a:t>Blueprint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4911" y="1554480"/>
            <a:ext cx="3657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6A5F"/>
                </a:solidFill>
                <a:latin typeface="Calibr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79" y="1554480"/>
            <a:ext cx="1874519" cy="1005840"/>
          </a:xfrm>
          <a:prstGeom prst="roundRect">
            <a:avLst>
              <a:gd name="adj" fmla="val 12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79" y="1554480"/>
            <a:ext cx="187451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C5A44"/>
                </a:solidFill>
                <a:latin typeface="Calibri"/>
              </a:rPr>
              <a:t>Week 2</a:t>
            </a:r>
          </a:p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C5A44"/>
                </a:solidFill>
                <a:latin typeface="Calibri"/>
              </a:rPr>
              <a:t>Prototype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28032" y="1554480"/>
            <a:ext cx="3657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6A5F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554480"/>
            <a:ext cx="1874519" cy="1005840"/>
          </a:xfrm>
          <a:prstGeom prst="roundRect">
            <a:avLst>
              <a:gd name="adj" fmla="val 12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1554480"/>
            <a:ext cx="187451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C5A44"/>
                </a:solidFill>
                <a:latin typeface="Calibri"/>
              </a:rPr>
              <a:t>Week 3</a:t>
            </a:r>
          </a:p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C5A44"/>
                </a:solidFill>
                <a:latin typeface="Calibri"/>
              </a:rPr>
              <a:t>AI + Automation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1152" y="1554480"/>
            <a:ext cx="3657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6A5F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1554480"/>
            <a:ext cx="1874519" cy="1005840"/>
          </a:xfrm>
          <a:prstGeom prst="roundRect">
            <a:avLst>
              <a:gd name="adj" fmla="val 12000"/>
            </a:avLst>
          </a:prstGeom>
          <a:solidFill>
            <a:srgbClr val="DD6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0" y="1554480"/>
            <a:ext cx="187451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Week 4</a:t>
            </a:r>
          </a:p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User Finding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34272" y="1554480"/>
            <a:ext cx="3657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6A5F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0" y="1554480"/>
            <a:ext cx="1874519" cy="1005840"/>
          </a:xfrm>
          <a:prstGeom prst="roundRect">
            <a:avLst>
              <a:gd name="adj" fmla="val 12000"/>
            </a:avLst>
          </a:prstGeom>
          <a:solidFill>
            <a:srgbClr val="DD6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1554480"/>
            <a:ext cx="187451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Week 5</a:t>
            </a:r>
          </a:p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Redesigned Rewards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063240"/>
            <a:ext cx="10515600" cy="3017520"/>
          </a:xfrm>
          <a:prstGeom prst="roundRect">
            <a:avLst>
              <a:gd name="adj" fmla="val 12000"/>
            </a:avLst>
          </a:prstGeom>
          <a:solidFill>
            <a:srgbClr val="DCE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3337560"/>
            <a:ext cx="9784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3E7A5C"/>
                </a:solidFill>
                <a:latin typeface="Calibri"/>
              </a:rPr>
              <a:t>THE FINDING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794760"/>
            <a:ext cx="9784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C5A44"/>
                </a:solidFill>
                <a:latin typeface="Cambria"/>
              </a:rPr>
              <a:t>This is a general habit-formation problem, not a kid-control problem.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572000"/>
            <a:ext cx="9784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DD6B42"/>
                </a:solidFill>
                <a:latin typeface="Calibri"/>
              </a:rPr>
              <a:t>THE FEATURE CHANGE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983480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1F2D22"/>
                </a:solidFill>
                <a:latin typeface="Calibri"/>
              </a:rPr>
              <a:t>All-or-nothing unlock rejected in favor of per-goal minute banking — partial effort is always rewarded, and finishing everything is still the biggest win.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Try It Yourself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920240"/>
            <a:ext cx="10515600" cy="1188720"/>
          </a:xfrm>
          <a:prstGeom prst="roundRect">
            <a:avLst>
              <a:gd name="adj" fmla="val 12000"/>
            </a:avLst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23774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LIVE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2103120"/>
            <a:ext cx="7315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claude.ai/code/artifact/dc777afc-bb3e-408c-aede-89ed91983bd3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291840"/>
            <a:ext cx="10515600" cy="1188720"/>
          </a:xfrm>
          <a:prstGeom prst="roundRect">
            <a:avLst>
              <a:gd name="adj" fmla="val 12000"/>
            </a:avLst>
          </a:prstGeom>
          <a:solidFill>
            <a:srgbClr val="DD6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3520440"/>
            <a:ext cx="23774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SOURCE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3474720"/>
            <a:ext cx="7315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github.com/sahil19891989/health-first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663440"/>
            <a:ext cx="10515600" cy="1188720"/>
          </a:xfrm>
          <a:prstGeom prst="roundRect">
            <a:avLst>
              <a:gd name="adj" fmla="val 12000"/>
            </a:avLst>
          </a:prstGeom>
          <a:solidFill>
            <a:srgbClr val="DB9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4892040"/>
            <a:ext cx="23774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F3D2B"/>
                </a:solidFill>
                <a:latin typeface="Calibri"/>
              </a:rPr>
              <a:t>DEMO PARENT PIN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4846320"/>
            <a:ext cx="7315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F3D2B"/>
                </a:solidFill>
                <a:latin typeface="Cambria"/>
              </a:rPr>
              <a:t>1234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D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504688" y="1508760"/>
            <a:ext cx="1188720" cy="1188720"/>
          </a:xfrm>
          <a:prstGeom prst="ellipse">
            <a:avLst/>
          </a:prstGeom>
          <a:solidFill>
            <a:srgbClr val="3E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600">
                <a:solidFill>
                  <a:srgbClr val="FFFFFF"/>
                </a:solidFill>
              </a:rPr>
              <a:t>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9418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Cambria"/>
              </a:rPr>
              <a:t>Health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418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DCE8D9"/>
                </a:solidFill>
                <a:latin typeface="Calibri"/>
              </a:rPr>
              <a:t>Making healthy habits the actual price of screen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120640"/>
            <a:ext cx="9418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F7E1D5"/>
                </a:solidFill>
                <a:latin typeface="Calibri"/>
              </a:rPr>
              <a:t>Thank you — Qutuhal InnovateX 2.0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