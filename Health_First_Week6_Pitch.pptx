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 with a big smile - this is the whole idea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quote with excitement - it's the funniest, most relatable line in the whole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fast and with energy - six short, exciting things the app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each side while talking: this is what the kid sees, this is what the parent sees.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big idea - reward instead of restrict. Say it with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link and PIN slowly and clearly if this is shown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smile. This is the last thing everyone remembers.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378440" y="411479"/>
            <a:ext cx="1005840" cy="1005840"/>
          </a:xfrm>
          <a:prstGeom prst="ellipse">
            <a:avLst/>
          </a:prstGeom>
          <a:solidFill>
            <a:srgbClr val="3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0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FFFFFF"/>
                </a:solidFill>
                <a:latin typeface="Cambria"/>
              </a:rPr>
              <a:t>Health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DCE8D9"/>
                </a:solidFill>
                <a:latin typeface="Calibri"/>
              </a:rPr>
              <a:t>Do healthy things. Earn game time!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3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QUTUHAL INNOVATEX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F2D22"/>
                </a:solidFill>
                <a:latin typeface="Cambria"/>
              </a:rPr>
              <a:t>Kids Forget Their Healthy Habits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5029200" cy="393192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659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A8F8B"/>
                </a:solidFill>
                <a:latin typeface="Calibri"/>
              </a:rPr>
              <a:t>WHAT WE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423160"/>
            <a:ext cx="4297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5B6A5F"/>
                </a:solidFill>
                <a:latin typeface="Calibri"/>
              </a:rPr>
              <a:t>Kids forget to drink water, move around, sleep on time, and eat fruit — because games are more fun!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93192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A8F8B"/>
                </a:solidFill>
                <a:latin typeface="Calibri"/>
              </a:rPr>
              <a:t>SO WE ASKED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8912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5B6A5F"/>
                </a:solidFill>
                <a:latin typeface="Calibri"/>
              </a:rPr>
              <a:t>We asked our own family: do grown-ups forget these things too?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257800" cy="3931920"/>
          </a:xfrm>
          <a:prstGeom prst="roundRect">
            <a:avLst>
              <a:gd name="adj" fmla="val 10000"/>
            </a:avLst>
          </a:prstGeom>
          <a:solidFill>
            <a:srgbClr val="DD6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7E1D5"/>
                </a:solidFill>
                <a:latin typeface="Calibri"/>
              </a:rPr>
              <a:t>THEY SAID...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526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“Yes! We forget too!”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20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7E1D5"/>
                </a:solidFill>
                <a:latin typeface="Calibri"/>
              </a:rPr>
              <a:t>So it's not just a kid thing — everyone needs a fun little reminder!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F2D22"/>
                </a:solidFill>
                <a:latin typeface="Cambria"/>
              </a:rPr>
              <a:t>Our Solution: Health First!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A5F"/>
                </a:solidFill>
                <a:latin typeface="Calibri"/>
              </a:rPr>
              <a:t>Do your health goals, and you EARN time to play games and watch YouTube!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011679"/>
            <a:ext cx="640080" cy="640080"/>
          </a:xfrm>
          <a:prstGeom prst="ellipse">
            <a:avLst/>
          </a:prstGeom>
          <a:solidFill>
            <a:srgbClr val="DC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3E7A5C"/>
                </a:solidFill>
              </a:rPr>
              <a:t>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39112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D22"/>
                </a:solidFill>
                <a:latin typeface="Calibri"/>
              </a:rPr>
              <a:t>4 fun goals every day: water, move, sleep, fruit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200400"/>
            <a:ext cx="640080" cy="640080"/>
          </a:xfrm>
          <a:prstGeom prst="ellipse">
            <a:avLst/>
          </a:prstGeom>
          <a:solidFill>
            <a:srgbClr val="F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DD6B42"/>
                </a:solidFill>
              </a:rPr>
              <a:t>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27832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D22"/>
                </a:solidFill>
                <a:latin typeface="Calibri"/>
              </a:rPr>
              <a:t>Snap a photo or ask a parent to check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389120"/>
            <a:ext cx="640080" cy="640080"/>
          </a:xfrm>
          <a:prstGeom prst="ellipse">
            <a:avLst/>
          </a:prstGeom>
          <a:solidFill>
            <a:srgbClr val="F5E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DB9D3B"/>
                </a:solidFill>
              </a:rP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416552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D22"/>
                </a:solidFill>
                <a:latin typeface="Calibri"/>
              </a:rPr>
              <a:t>Earn real Games &amp; YouTube time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11679"/>
            <a:ext cx="640080" cy="640080"/>
          </a:xfrm>
          <a:prstGeom prst="ellipse">
            <a:avLst/>
          </a:prstGeom>
          <a:solidFill>
            <a:srgbClr val="E2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6E6FBF"/>
                </a:solidFill>
              </a:rPr>
              <a:t>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039112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D22"/>
                </a:solidFill>
                <a:latin typeface="Calibri"/>
              </a:rPr>
              <a:t>Build a streak and win fun badges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200400"/>
            <a:ext cx="640080" cy="640080"/>
          </a:xfrm>
          <a:prstGeom prst="ellipse">
            <a:avLst/>
          </a:prstGeom>
          <a:solidFill>
            <a:srgbClr val="DC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3E7A5C"/>
                </a:solidFill>
              </a:rPr>
              <a:t>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227832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D22"/>
                </a:solidFill>
                <a:latin typeface="Calibri"/>
              </a:rPr>
              <a:t>Parents can add their own goals too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4389120"/>
            <a:ext cx="640080" cy="640080"/>
          </a:xfrm>
          <a:prstGeom prst="ellipse">
            <a:avLst/>
          </a:prstGeom>
          <a:solidFill>
            <a:srgbClr val="F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DD6B42"/>
                </a:solidFill>
              </a:rPr>
              <a:t>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416552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D22"/>
                </a:solidFill>
                <a:latin typeface="Calibri"/>
              </a:rPr>
              <a:t>A safe emergency button just for parents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F2D22"/>
                </a:solidFill>
                <a:latin typeface="Cambria"/>
              </a:rPr>
              <a:t>See The App!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A5F"/>
                </a:solidFill>
                <a:latin typeface="Calibri"/>
              </a:rPr>
              <a:t>Here's what it really looks like.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0292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D22"/>
                </a:solidFill>
                <a:latin typeface="Cambria"/>
              </a:rPr>
              <a:t>🌱 Hi! Let's grow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85623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5E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DB9D3B"/>
                </a:solidFill>
                <a:latin typeface="Calibri"/>
              </a:rPr>
              <a:t>🍃 2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286000"/>
            <a:ext cx="548640" cy="548640"/>
          </a:xfrm>
          <a:prstGeom prst="ellipse">
            <a:avLst/>
          </a:prstGeom>
          <a:solidFill>
            <a:srgbClr val="DC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>
                <a:solidFill>
                  <a:srgbClr val="3E7A5C"/>
                </a:solidFill>
              </a:rPr>
              <a:t>💧</a:t>
            </a:r>
          </a:p>
        </p:txBody>
      </p:sp>
      <p:sp>
        <p:nvSpPr>
          <p:cNvPr id="8" name="Oval 7"/>
          <p:cNvSpPr/>
          <p:nvPr/>
        </p:nvSpPr>
        <p:spPr>
          <a:xfrm>
            <a:off x="1965960" y="2286000"/>
            <a:ext cx="548640" cy="548640"/>
          </a:xfrm>
          <a:prstGeom prst="ellipse">
            <a:avLst/>
          </a:prstGeom>
          <a:solidFill>
            <a:srgbClr val="F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>
                <a:solidFill>
                  <a:srgbClr val="DD6B42"/>
                </a:solidFill>
              </a:rPr>
              <a:t>🏃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2286000"/>
            <a:ext cx="548640" cy="548640"/>
          </a:xfrm>
          <a:prstGeom prst="ellipse">
            <a:avLst/>
          </a:prstGeom>
          <a:solidFill>
            <a:srgbClr val="E2E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>
                <a:solidFill>
                  <a:srgbClr val="6E6FBF"/>
                </a:solidFill>
              </a:rPr>
              <a:t>🌙</a:t>
            </a:r>
          </a:p>
        </p:txBody>
      </p:sp>
      <p:sp>
        <p:nvSpPr>
          <p:cNvPr id="10" name="Oval 9"/>
          <p:cNvSpPr/>
          <p:nvPr/>
        </p:nvSpPr>
        <p:spPr>
          <a:xfrm>
            <a:off x="3794760" y="2286000"/>
            <a:ext cx="548640" cy="548640"/>
          </a:xfrm>
          <a:prstGeom prst="ellipse">
            <a:avLst/>
          </a:prstGeom>
          <a:solidFill>
            <a:srgbClr val="F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>
                <a:solidFill>
                  <a:srgbClr val="DD6B42"/>
                </a:solidFill>
              </a:rPr>
              <a:t>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971800"/>
            <a:ext cx="4480560" cy="18288"/>
          </a:xfrm>
          <a:prstGeom prst="rect">
            <a:avLst/>
          </a:prstGeom>
          <a:solidFill>
            <a:srgbClr val="E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154680"/>
            <a:ext cx="4480560" cy="457200"/>
          </a:xfrm>
          <a:prstGeom prst="roundRect">
            <a:avLst>
              <a:gd name="adj" fmla="val 10000"/>
            </a:avLst>
          </a:prstGeom>
          <a:solidFill>
            <a:srgbClr val="F5E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15468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B9D3B"/>
                </a:solidFill>
                <a:latin typeface="Calibri"/>
              </a:rPr>
              <a:t>🔒 2 more to earn screen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794760"/>
            <a:ext cx="4480560" cy="77724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57300" y="3927348"/>
            <a:ext cx="502920" cy="502920"/>
          </a:xfrm>
          <a:prstGeom prst="ellipse">
            <a:avLst/>
          </a:prstGeom>
          <a:solidFill>
            <a:srgbClr val="DC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>
                <a:solidFill>
                  <a:srgbClr val="3E7A5C"/>
                </a:solidFill>
              </a:rPr>
              <a:t>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9776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D22"/>
                </a:solidFill>
                <a:latin typeface="Calibri"/>
              </a:rPr>
              <a:t>Drink water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9592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3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0/8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754880"/>
            <a:ext cx="4480560" cy="77724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57300" y="4887468"/>
            <a:ext cx="502920" cy="502920"/>
          </a:xfrm>
          <a:prstGeom prst="ellipse">
            <a:avLst/>
          </a:prstGeom>
          <a:solidFill>
            <a:srgbClr val="F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>
                <a:solidFill>
                  <a:srgbClr val="DD6B42"/>
                </a:solidFill>
              </a:rPr>
              <a:t>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9377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D22"/>
                </a:solidFill>
                <a:latin typeface="Calibri"/>
              </a:rPr>
              <a:t>Move your body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95604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3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 did it!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6751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E7A5C"/>
                </a:solidFill>
                <a:latin typeface="Cambria"/>
              </a:rPr>
              <a:t>Kid 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691640"/>
            <a:ext cx="50292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8745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D22"/>
                </a:solidFill>
                <a:latin typeface="Cambria"/>
              </a:rPr>
              <a:t>🌿 Health First — Parent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2286000"/>
            <a:ext cx="4480560" cy="18288"/>
          </a:xfrm>
          <a:prstGeom prst="rect">
            <a:avLst/>
          </a:prstGeom>
          <a:solidFill>
            <a:srgbClr val="E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29400" y="2468880"/>
            <a:ext cx="4480560" cy="502920"/>
          </a:xfrm>
          <a:prstGeom prst="roundRect">
            <a:avLst>
              <a:gd name="adj" fmla="val 10000"/>
            </a:avLst>
          </a:prstGeom>
          <a:solidFill>
            <a:srgbClr val="DC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46888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E7A5C"/>
                </a:solidFill>
                <a:latin typeface="Calibri"/>
              </a:rPr>
              <a:t>2 waiting for you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2542032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2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✅ Approve 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15468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2918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D22"/>
                </a:solidFill>
                <a:latin typeface="Calibri"/>
              </a:rPr>
              <a:t>Move your body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6576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E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DB9D3B"/>
                </a:solidFill>
                <a:latin typeface="Calibri"/>
              </a:rPr>
              <a:t>🙋 Kid says done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384048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6A5F"/>
                </a:solidFill>
                <a:latin typeface="Calibri"/>
              </a:rPr>
              <a:t>Ask again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19" y="384048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3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4937760"/>
            <a:ext cx="4480560" cy="822960"/>
          </a:xfrm>
          <a:prstGeom prst="roundRect">
            <a:avLst>
              <a:gd name="adj" fmla="val 10000"/>
            </a:avLst>
          </a:prstGeom>
          <a:solidFill>
            <a:srgbClr val="F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5074920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D6B42"/>
                </a:solidFill>
                <a:latin typeface="Calibri"/>
              </a:rPr>
              <a:t>⚠️ Emergency unlock (PIN required)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66751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DD6B42"/>
                </a:solidFill>
                <a:latin typeface="Cambria"/>
              </a:rPr>
              <a:t>Parent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F2D22"/>
                </a:solidFill>
                <a:latin typeface="Cambria"/>
              </a:rPr>
              <a:t>Why Everyone Will Love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8F8B"/>
                </a:solidFill>
                <a:latin typeface="Calibri"/>
              </a:rPr>
              <a:t>OTHER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4480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lnSpc>
                <a:spcPct val="115000"/>
              </a:lnSpc>
              <a:spcAft>
                <a:spcPts val="1600"/>
              </a:spcAft>
              <a:buClr>
                <a:srgbClr val="8A8F8B"/>
              </a:buClr>
              <a:buFont typeface="Arial"/>
              <a:buChar char="✗"/>
            </a:pPr>
            <a:r>
              <a:rPr sz="1600">
                <a:solidFill>
                  <a:srgbClr val="5B6A5F"/>
                </a:solidFill>
                <a:latin typeface="Calibri"/>
              </a:rPr>
              <a:t>Just say NO more games</a:t>
            </a:r>
          </a:p>
          <a:p>
            <a:pPr indent="-201168" marL="201168">
              <a:lnSpc>
                <a:spcPct val="115000"/>
              </a:lnSpc>
              <a:spcAft>
                <a:spcPts val="1600"/>
              </a:spcAft>
              <a:buClr>
                <a:srgbClr val="8A8F8B"/>
              </a:buClr>
              <a:buFont typeface="Arial"/>
              <a:buChar char="✗"/>
            </a:pPr>
            <a:r>
              <a:rPr sz="1600">
                <a:solidFill>
                  <a:srgbClr val="5B6A5F"/>
                </a:solidFill>
                <a:latin typeface="Calibri"/>
              </a:rPr>
              <a:t>Kids feel punished</a:t>
            </a:r>
          </a:p>
          <a:p>
            <a:pPr indent="-201168" marL="201168">
              <a:lnSpc>
                <a:spcPct val="115000"/>
              </a:lnSpc>
              <a:spcAft>
                <a:spcPts val="1600"/>
              </a:spcAft>
              <a:buClr>
                <a:srgbClr val="8A8F8B"/>
              </a:buClr>
              <a:buFont typeface="Arial"/>
              <a:buChar char="✗"/>
            </a:pPr>
            <a:r>
              <a:rPr sz="1600">
                <a:solidFill>
                  <a:srgbClr val="5B6A5F"/>
                </a:solidFill>
                <a:latin typeface="Calibri"/>
              </a:rPr>
              <a:t>Parents feel like the bad guy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074920" cy="3840480"/>
          </a:xfrm>
          <a:prstGeom prst="roundRect">
            <a:avLst>
              <a:gd name="adj" fmla="val 10000"/>
            </a:avLst>
          </a:prstGeom>
          <a:solidFill>
            <a:srgbClr val="3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659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E8D9"/>
                </a:solidFill>
                <a:latin typeface="Calibri"/>
              </a:rPr>
              <a:t>HEALTH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14600"/>
            <a:ext cx="4480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lnSpc>
                <a:spcPct val="115000"/>
              </a:lnSpc>
              <a:spcAft>
                <a:spcPts val="1600"/>
              </a:spcAft>
              <a:buClr>
                <a:srgbClr val="FFFFFF"/>
              </a:buClr>
              <a:buFont typeface="Arial"/>
              <a:buChar char="✓"/>
            </a:pPr>
            <a:r>
              <a:rPr sz="1600">
                <a:solidFill>
                  <a:srgbClr val="FFFFFF"/>
                </a:solidFill>
                <a:latin typeface="Calibri"/>
              </a:rPr>
              <a:t>Says YES, earn more games!</a:t>
            </a:r>
          </a:p>
          <a:p>
            <a:pPr indent="-201168" marL="201168">
              <a:lnSpc>
                <a:spcPct val="115000"/>
              </a:lnSpc>
              <a:spcAft>
                <a:spcPts val="1600"/>
              </a:spcAft>
              <a:buClr>
                <a:srgbClr val="FFFFFF"/>
              </a:buClr>
              <a:buFont typeface="Arial"/>
              <a:buChar char="✓"/>
            </a:pPr>
            <a:r>
              <a:rPr sz="1600">
                <a:solidFill>
                  <a:srgbClr val="FFFFFF"/>
                </a:solidFill>
                <a:latin typeface="Calibri"/>
              </a:rPr>
              <a:t>Kids feel proud, not punished</a:t>
            </a:r>
          </a:p>
          <a:p>
            <a:pPr indent="-201168" marL="201168">
              <a:lnSpc>
                <a:spcPct val="115000"/>
              </a:lnSpc>
              <a:spcAft>
                <a:spcPts val="1600"/>
              </a:spcAft>
              <a:buClr>
                <a:srgbClr val="FFFFFF"/>
              </a:buClr>
              <a:buFont typeface="Arial"/>
              <a:buChar char="✓"/>
            </a:pPr>
            <a:r>
              <a:rPr sz="1600">
                <a:solidFill>
                  <a:srgbClr val="FFFFFF"/>
                </a:solidFill>
                <a:latin typeface="Calibri"/>
              </a:rPr>
              <a:t>Parents and kids are a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Try It Yourself!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10515600" cy="1188720"/>
          </a:xfrm>
          <a:prstGeom prst="roundRect">
            <a:avLst>
              <a:gd name="adj" fmla="val 10000"/>
            </a:avLst>
          </a:prstGeom>
          <a:solidFill>
            <a:srgbClr val="3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PLAY WITH IT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2103120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claude.ai/code/artifact/dc777afc-bb3e-408c-aede-89ed91983bd3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10515600" cy="1188720"/>
          </a:xfrm>
          <a:prstGeom prst="roundRect">
            <a:avLst>
              <a:gd name="adj" fmla="val 10000"/>
            </a:avLst>
          </a:prstGeom>
          <a:solidFill>
            <a:srgbClr val="DD6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52044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ALL OUR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474720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github.com/sahil19891989/health-first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3440"/>
            <a:ext cx="10515600" cy="1188720"/>
          </a:xfrm>
          <a:prstGeom prst="roundRect">
            <a:avLst>
              <a:gd name="adj" fmla="val 10000"/>
            </a:avLst>
          </a:prstGeom>
          <a:solidFill>
            <a:srgbClr val="DB9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D2B"/>
                </a:solidFill>
                <a:latin typeface="Calibri"/>
              </a:rPr>
              <a:t>SECRET PARENT 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846320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F3D2B"/>
                </a:solidFill>
                <a:latin typeface="Cambria"/>
              </a:rPr>
              <a:t>1234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04688" y="1508760"/>
            <a:ext cx="1188720" cy="1188720"/>
          </a:xfrm>
          <a:prstGeom prst="ellipse">
            <a:avLst/>
          </a:prstGeom>
          <a:solidFill>
            <a:srgbClr val="3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0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DCE8D9"/>
                </a:solidFill>
                <a:latin typeface="Calibri"/>
              </a:rPr>
              <a:t>We hope you love Health First as much as we 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F7E1D5"/>
                </a:solidFill>
                <a:latin typeface="Calibri"/>
              </a:rPr>
              <a:t>Qutuhal InnovateX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