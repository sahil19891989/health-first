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energy. This is not another parental-control app - it's a reward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hook. Deliver the quote slowly - it's the line that justifies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differentiator judges will remember. Restrict vs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right, then flag the sleep-timing fix as proof of real engineering rigor.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slide out loud, then switch to the live screen recording / browser demo immediately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this is two products in one - a game for the kid, a dashboard for the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'so what' for judges - why this matters beyond one demo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Shows judges this was iterated with discipline, not just built once and left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out loud slowly if this is on screen during the recorded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this line, then stop talking. Let the tagline be the last thing they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411479"/>
            <a:ext cx="1005840" cy="100584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FFFFF"/>
                </a:solidFill>
                <a:latin typeface="Cambria"/>
              </a:rPr>
              <a:t>Health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DCE8D9"/>
                </a:solidFill>
                <a:latin typeface="Calibri"/>
              </a:rPr>
              <a:t>The first screen-time app that rewards health — instead of just restricting screens.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4340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QUTUHAL INNOVATEX 2.0  ·  FINAL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F2D22"/>
                </a:solidFill>
                <a:latin typeface="Cambria"/>
              </a:rPr>
              <a:t>It's Not Just a Kid Problem.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9164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E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96596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A8F8B"/>
                </a:solidFill>
                <a:latin typeface="Calibri"/>
              </a:rPr>
              <a:t>THE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42316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Kids skip water, movement, sleep, and fruit because they're distracted by screens and no one checks.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49039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A8F8B"/>
                </a:solidFill>
                <a:latin typeface="Calibri"/>
              </a:rPr>
              <a:t>SO WE TESTED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0624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We asked our own family the same question adults never get asked.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257800" cy="393192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7E1D5"/>
                </a:solidFill>
                <a:latin typeface="Calibri"/>
              </a:rPr>
              <a:t>THE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14600"/>
            <a:ext cx="4526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“They confirmed it happens to them too.”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434840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7E1D5"/>
                </a:solidFill>
                <a:latin typeface="Calibri"/>
              </a:rPr>
              <a:t>This isn't a discipline problem in one house. It's a habit-formation problem in every house.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Why Screen-Time Apps Don't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They all take the same approach. We took the opposite 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E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A8F8B"/>
                </a:solidFill>
                <a:latin typeface="Calibri"/>
              </a:rPr>
              <a:t>TYPICAL APPS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Restrict access with a hard timer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Kid feels punished, not motivated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Parent becomes the enforcer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One fixed rule for every family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Screen time becomes a daily fight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074920" cy="4114800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E8D9"/>
                </a:solidFill>
                <a:latin typeface="Calibri"/>
              </a:rPr>
              <a:t>HEALTH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Rewards healthy habits with earned time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Kid feels motivated by immediate credit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Parent becomes a coach, not a warden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Every goal and reward is configurable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Screen time becomes a shared goal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A daily checklist of health goals — proven honestly — banks screen time.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965960"/>
            <a:ext cx="1097280" cy="1097280"/>
          </a:xfrm>
          <a:prstGeom prst="ellipse">
            <a:avLst/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3E7A5C"/>
                </a:solidFill>
              </a:rPr>
              <a:t>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Water</a:t>
            </a:r>
          </a:p>
        </p:txBody>
      </p:sp>
      <p:sp>
        <p:nvSpPr>
          <p:cNvPr id="6" name="Oval 5"/>
          <p:cNvSpPr/>
          <p:nvPr/>
        </p:nvSpPr>
        <p:spPr>
          <a:xfrm>
            <a:off x="3611879" y="1965960"/>
            <a:ext cx="1097280" cy="109728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DD6B42"/>
                </a:solidFill>
              </a:rPr>
              <a:t>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Move</a:t>
            </a:r>
          </a:p>
        </p:txBody>
      </p:sp>
      <p:sp>
        <p:nvSpPr>
          <p:cNvPr id="8" name="Oval 7"/>
          <p:cNvSpPr/>
          <p:nvPr/>
        </p:nvSpPr>
        <p:spPr>
          <a:xfrm>
            <a:off x="5943600" y="1965960"/>
            <a:ext cx="1097280" cy="1097280"/>
          </a:xfrm>
          <a:prstGeom prst="ellipse">
            <a:avLst/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6E6FBF"/>
                </a:solidFill>
              </a:rPr>
              <a:t>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79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Sleep</a:t>
            </a:r>
          </a:p>
        </p:txBody>
      </p:sp>
      <p:sp>
        <p:nvSpPr>
          <p:cNvPr id="10" name="Oval 9"/>
          <p:cNvSpPr/>
          <p:nvPr/>
        </p:nvSpPr>
        <p:spPr>
          <a:xfrm>
            <a:off x="8275320" y="1965960"/>
            <a:ext cx="1097280" cy="109728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DD6B42"/>
                </a:solidFill>
              </a:rPr>
              <a:t>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Fruit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886200"/>
            <a:ext cx="155448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9776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886200"/>
            <a:ext cx="228600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388620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Photo or PIN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9776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886200"/>
            <a:ext cx="210312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388620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Minutes Banked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9776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886200"/>
            <a:ext cx="155448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88620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Unlock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4632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074920"/>
            <a:ext cx="9784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C5A44"/>
                </a:solidFill>
                <a:latin typeface="Calibri"/>
              </a:rPr>
              <a:t>The one exception: Sleep is checked each morning about last night's bedtime, not at night — a real bug we caught and fixed, so the reward is never gated on something unverifiable until after bedtime.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Not a Mockup. A Working Product.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CE8D9"/>
                </a:solidFill>
                <a:latin typeface="Calibri"/>
              </a:rPr>
              <a:t>Every feature below is live, clickable, and running right now.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4206240"/>
          </a:xfrm>
          <a:prstGeom prst="roundRect">
            <a:avLst>
              <a:gd name="adj" fmla="val 10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01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2200"/>
              </a:spcAft>
              <a:buClr>
                <a:srgbClr val="3E7A5C"/>
              </a:buClr>
              <a:buFont typeface="Arial"/>
              <a:buChar char="✓"/>
            </a:pPr>
            <a:r>
              <a:rPr sz="1700">
                <a:solidFill>
                  <a:srgbClr val="FFFFFF"/>
                </a:solidFill>
                <a:latin typeface="Calibri"/>
              </a:rPr>
              <a:t>Real photo upload and parent-PIN verification — not placeholder buttons</a:t>
            </a:r>
          </a:p>
          <a:p>
            <a:pPr indent="-201168" marL="201168">
              <a:lnSpc>
                <a:spcPct val="115000"/>
              </a:lnSpc>
              <a:spcAft>
                <a:spcPts val="2200"/>
              </a:spcAft>
              <a:buClr>
                <a:srgbClr val="3E7A5C"/>
              </a:buClr>
              <a:buFont typeface="Arial"/>
              <a:buChar char="✓"/>
            </a:pPr>
            <a:r>
              <a:rPr sz="1700">
                <a:solidFill>
                  <a:srgbClr val="FFFFFF"/>
                </a:solidFill>
                <a:latin typeface="Calibri"/>
              </a:rPr>
              <a:t>A real countdown timer that spends banked minutes and warns before time runs out</a:t>
            </a:r>
          </a:p>
          <a:p>
            <a:pPr indent="-201168" marL="201168">
              <a:lnSpc>
                <a:spcPct val="115000"/>
              </a:lnSpc>
              <a:spcAft>
                <a:spcPts val="2200"/>
              </a:spcAft>
              <a:buClr>
                <a:srgbClr val="3E7A5C"/>
              </a:buClr>
              <a:buFont typeface="Arial"/>
              <a:buChar char="✓"/>
            </a:pPr>
            <a:r>
              <a:rPr sz="1700">
                <a:solidFill>
                  <a:srgbClr val="FFFFFF"/>
                </a:solidFill>
                <a:latin typeface="Calibri"/>
              </a:rPr>
              <a:t>Real state that persists day to day in the browser, with automatic daily reset</a:t>
            </a:r>
          </a:p>
          <a:p>
            <a:pPr indent="-201168" marL="201168">
              <a:lnSpc>
                <a:spcPct val="115000"/>
              </a:lnSpc>
              <a:spcAft>
                <a:spcPts val="2200"/>
              </a:spcAft>
              <a:buClr>
                <a:srgbClr val="3E7A5C"/>
              </a:buClr>
              <a:buFont typeface="Arial"/>
              <a:buChar char="✓"/>
            </a:pPr>
            <a:r>
              <a:rPr sz="1700">
                <a:solidFill>
                  <a:srgbClr val="FFFFFF"/>
                </a:solidFill>
                <a:latin typeface="Calibri"/>
              </a:rPr>
              <a:t>A real parent dashboard — add or remove goals, set reward minutes, approve or reject proof</a:t>
            </a:r>
          </a:p>
          <a:p>
            <a:pPr indent="-201168" marL="201168">
              <a:lnSpc>
                <a:spcPct val="115000"/>
              </a:lnSpc>
              <a:spcAft>
                <a:spcPts val="2200"/>
              </a:spcAft>
              <a:buClr>
                <a:srgbClr val="3E7A5C"/>
              </a:buClr>
              <a:buFont typeface="Arial"/>
              <a:buChar char="✓"/>
            </a:pPr>
            <a:r>
              <a:rPr sz="1700">
                <a:solidFill>
                  <a:srgbClr val="FFFFFF"/>
                </a:solidFill>
                <a:latin typeface="Calibri"/>
              </a:rPr>
              <a:t>Five weeks of real iteration — including a genuine bug fix (the sleep-timing rework)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Designed for Both Sides of the Family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5120640" cy="475488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6459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7A5C"/>
                </a:solidFill>
                <a:latin typeface="Calibri"/>
              </a:rPr>
              <a:t>FOR THE KID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448056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4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Instant credit — </a:t>
            </a:r>
            <a:r>
              <a:rPr sz="1400">
                <a:solidFill>
                  <a:srgbClr val="1F2D22"/>
                </a:solidFill>
                <a:latin typeface="Calibri"/>
              </a:rPr>
              <a:t>every goal banks minutes the moment it's done, not at the end of the day.</a:t>
            </a:r>
          </a:p>
          <a:p>
            <a:pPr indent="-201168" marL="201168">
              <a:lnSpc>
                <a:spcPct val="115000"/>
              </a:lnSpc>
              <a:spcAft>
                <a:spcPts val="14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A real countdown — </a:t>
            </a:r>
            <a:r>
              <a:rPr sz="1400">
                <a:solidFill>
                  <a:srgbClr val="1F2D22"/>
                </a:solidFill>
                <a:latin typeface="Calibri"/>
              </a:rPr>
              <a:t>spend banked time with a live timer and a fair low-time warning.</a:t>
            </a:r>
          </a:p>
          <a:p>
            <a:pPr indent="-201168" marL="201168">
              <a:lnSpc>
                <a:spcPct val="115000"/>
              </a:lnSpc>
              <a:spcAft>
                <a:spcPts val="14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A big finish — </a:t>
            </a:r>
            <a:r>
              <a:rPr sz="1400">
                <a:solidFill>
                  <a:srgbClr val="1F2D22"/>
                </a:solidFill>
                <a:latin typeface="Calibri"/>
              </a:rPr>
              <a:t>finish everything and the day becomes Unlimited.</a:t>
            </a:r>
          </a:p>
          <a:p>
            <a:pPr indent="-201168" marL="201168">
              <a:lnSpc>
                <a:spcPct val="115000"/>
              </a:lnSpc>
              <a:spcAft>
                <a:spcPts val="14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Streaks &amp; badges — </a:t>
            </a:r>
            <a:r>
              <a:rPr sz="1400">
                <a:solidFill>
                  <a:srgbClr val="1F2D22"/>
                </a:solidFill>
                <a:latin typeface="Calibri"/>
              </a:rPr>
              <a:t>a 7-day history and milestone celebrations keep it fun, not naggy.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71600"/>
            <a:ext cx="5120640" cy="4754880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6459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D6B42"/>
                </a:solidFill>
                <a:latin typeface="Calibri"/>
              </a:rPr>
              <a:t>FOR THE PARENT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2148840"/>
            <a:ext cx="448056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4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Review, don't guess — </a:t>
            </a:r>
            <a:r>
              <a:rPr sz="1400">
                <a:solidFill>
                  <a:srgbClr val="1F2D22"/>
                </a:solidFill>
                <a:latin typeface="Calibri"/>
              </a:rPr>
              <a:t>approve or ask-again on every photo a kid submits.</a:t>
            </a:r>
          </a:p>
          <a:p>
            <a:pPr indent="-201168" marL="201168">
              <a:lnSpc>
                <a:spcPct val="115000"/>
              </a:lnSpc>
              <a:spcAft>
                <a:spcPts val="14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An honest override — </a:t>
            </a:r>
            <a:r>
              <a:rPr sz="1400">
                <a:solidFill>
                  <a:srgbClr val="1F2D22"/>
                </a:solidFill>
                <a:latin typeface="Calibri"/>
              </a:rPr>
              <a:t>PIN-gated emergency unlock that never falsifies progress.</a:t>
            </a:r>
          </a:p>
          <a:p>
            <a:pPr indent="-201168" marL="201168">
              <a:lnSpc>
                <a:spcPct val="115000"/>
              </a:lnSpc>
              <a:spcAft>
                <a:spcPts val="14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Full configurability — </a:t>
            </a:r>
            <a:r>
              <a:rPr sz="1400">
                <a:solidFill>
                  <a:srgbClr val="1F2D22"/>
                </a:solidFill>
                <a:latin typeface="Calibri"/>
              </a:rPr>
              <a:t>add or remove any goal, and set exactly what it's worth.</a:t>
            </a:r>
          </a:p>
          <a:p>
            <a:pPr indent="-201168" marL="201168">
              <a:lnSpc>
                <a:spcPct val="115000"/>
              </a:lnSpc>
              <a:spcAft>
                <a:spcPts val="14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No coding required — </a:t>
            </a:r>
            <a:r>
              <a:rPr sz="1400">
                <a:solidFill>
                  <a:srgbClr val="1F2D22"/>
                </a:solidFill>
                <a:latin typeface="Calibri"/>
              </a:rPr>
              <a:t>every control lives in a simple in-app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Built for One Family. Designed for Every Family.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2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3E7A5C"/>
                </a:solidFill>
              </a:rPr>
              <a:t>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2140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Universal habits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606040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Water, sleep, movement, and nutrition are the same challenge in every home, every culture, every income level — this isn't a niche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82880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2084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DD6B42"/>
                </a:solidFill>
              </a:rPr>
              <a:t>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12140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Any habit, not just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606040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Parents can already add custom goals — reading, chores, homework — the checklist → proof → reward engine generalizes far beyond the 4 defaults.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443484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DB9D3B"/>
                </a:solidFill>
              </a:rPr>
              <a:t>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4531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Rides a real trend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4937759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Global concern over kids' screen time is only growing — Health First turns that fight into a shared incentive instead of a source of family conflict.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16052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0840" y="443484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6E6FBF"/>
                </a:solidFill>
              </a:rPr>
              <a:t>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531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A path to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937759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School wellness programs, pediatrician recommendations, and family-plan subscriptions are natural next steps for the same core engine.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From Finding to Feature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54480"/>
            <a:ext cx="1874519" cy="100584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Week 1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4911" y="1554480"/>
            <a:ext cx="3657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6A5F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79" y="1554480"/>
            <a:ext cx="1874519" cy="100584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79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Week 2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8032" y="1554480"/>
            <a:ext cx="3657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6A5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554480"/>
            <a:ext cx="1874519" cy="100584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Week 3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AI +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1554480"/>
            <a:ext cx="3657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6A5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1874519" cy="100584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Week 4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User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4272" y="1554480"/>
            <a:ext cx="3657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6A5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554480"/>
            <a:ext cx="1874519" cy="100584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Week 5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Redesigned Rewards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063240"/>
            <a:ext cx="10515600" cy="301752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33756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7A5C"/>
                </a:solidFill>
                <a:latin typeface="Calibri"/>
              </a:rPr>
              <a:t>THE 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79476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C5A44"/>
                </a:solidFill>
                <a:latin typeface="Cambria"/>
              </a:rPr>
              <a:t>This is a general habit-formation problem, not a kid-control problem.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57200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D6B42"/>
                </a:solidFill>
                <a:latin typeface="Calibri"/>
              </a:rPr>
              <a:t>THE FEATURE 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F2D22"/>
                </a:solidFill>
                <a:latin typeface="Calibri"/>
              </a:rPr>
              <a:t>All-or-nothing unlock rejected in favor of per-goal minute banking — partial effort is always rewarded, and finishing everything is still the biggest win.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Try It Yourself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20240"/>
            <a:ext cx="10515600" cy="1188720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LIVE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2103120"/>
            <a:ext cx="7315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claude.ai/code/artifact/dc777afc-bb3e-408c-aede-89ed91983bd3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91840"/>
            <a:ext cx="10515600" cy="118872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52044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SOURCE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474720"/>
            <a:ext cx="7315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github.com/sahil19891989/health-first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3440"/>
            <a:ext cx="10515600" cy="1188720"/>
          </a:xfrm>
          <a:prstGeom prst="roundRect">
            <a:avLst>
              <a:gd name="adj" fmla="val 10000"/>
            </a:avLst>
          </a:prstGeom>
          <a:solidFill>
            <a:srgbClr val="DB9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89204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D2B"/>
                </a:solidFill>
                <a:latin typeface="Calibri"/>
              </a:rPr>
              <a:t>DEMO PARENT PIN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846320"/>
            <a:ext cx="7315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3D2B"/>
                </a:solidFill>
                <a:latin typeface="Cambria"/>
              </a:rPr>
              <a:t>1234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Why Health First Wins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1828800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82880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A real problem, validated with real people — not assumed.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743200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74320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A real working product — every claim on this deck is a live, clickable feature.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657599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5760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A genuinely different model — reward, not restrict.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572000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57200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Built to scale beyond one house — any habit, any family, any culture.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76072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DCE8D9"/>
                </a:solidFill>
                <a:latin typeface="Calibri"/>
              </a:rPr>
              <a:t>Health First — making healthy habits the actual price of screen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